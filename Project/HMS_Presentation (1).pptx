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823460"/>
            <a:ext cx="2377440" cy="777240"/>
          </a:xfrm>
          <a:prstGeom prst="rect">
            <a:avLst/>
          </a:prstGeom>
          <a:solidFill>
            <a:srgbClr val="0C4A50"/>
          </a:solidFill>
          <a:ln/>
        </p:spPr>
      </p:sp>
      <p:sp>
        <p:nvSpPr>
          <p:cNvPr id="3" name="Shape 1"/>
          <p:cNvSpPr/>
          <p:nvPr/>
        </p:nvSpPr>
        <p:spPr>
          <a:xfrm>
            <a:off x="10218420" y="4023360"/>
            <a:ext cx="777240" cy="2377440"/>
          </a:xfrm>
          <a:prstGeom prst="rect">
            <a:avLst/>
          </a:prstGeom>
          <a:solidFill>
            <a:srgbClr val="0C4A5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(25CS1302E)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application to streamline hospital operations — patient registration, appointments, medical records, room allocation, prescriptions, billing and discharge — on one centralized platform.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12801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257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  ·  Section 13  ·  Y25, 2026–2027, Trimester 4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77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Harsha Vardhan (2520080047)  ·  G. Anirudh (2520080058)  ·  Gireesh (2520090215)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Course Information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986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729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2026–2027 · Trimester 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941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NO.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684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897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640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2852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5595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2402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23591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4808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52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3317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Harsha Vardhan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104888" y="26426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2520080047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136392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64808" y="3255264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64808" y="3255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52" dirty="0"/>
          </a:p>
        </p:txBody>
      </p:sp>
      <p:sp>
        <p:nvSpPr>
          <p:cNvPr id="24" name="Text 22"/>
          <p:cNvSpPr txBox="1"/>
          <p:nvPr/>
        </p:nvSpPr>
        <p:spPr>
          <a:xfrm>
            <a:off x="7104888" y="32278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Anirudh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104888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2520080058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03250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64808" y="415137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52" dirty="0"/>
          </a:p>
        </p:txBody>
      </p:sp>
      <p:sp>
        <p:nvSpPr>
          <p:cNvPr id="29" name="Text 27"/>
          <p:cNvSpPr txBox="1"/>
          <p:nvPr/>
        </p:nvSpPr>
        <p:spPr>
          <a:xfrm>
            <a:off x="7104888" y="412394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Gireesh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04888" y="4434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2520090215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50657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5522976"/>
            <a:ext cx="4937760" cy="0"/>
          </a:xfrm>
          <a:prstGeom prst="line">
            <a:avLst/>
          </a:prstGeom>
          <a:noFill/>
          <a:ln w="15875">
            <a:solidFill>
              <a:srgbClr val="DCEAE8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263640" y="5614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signature to be filled by guide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2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91640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0216" y="1691640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3096" y="18288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3096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2" dirty="0"/>
          </a:p>
        </p:txBody>
      </p:sp>
      <p:sp>
        <p:nvSpPr>
          <p:cNvPr id="11" name="Text 9"/>
          <p:cNvSpPr txBox="1"/>
          <p:nvPr/>
        </p:nvSpPr>
        <p:spPr>
          <a:xfrm>
            <a:off x="7123176" y="1691640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72491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2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587752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0216" y="2587752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272491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3096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2" dirty="0"/>
          </a:p>
        </p:txBody>
      </p:sp>
      <p:sp>
        <p:nvSpPr>
          <p:cNvPr id="19" name="Text 17"/>
          <p:cNvSpPr txBox="1"/>
          <p:nvPr/>
        </p:nvSpPr>
        <p:spPr>
          <a:xfrm>
            <a:off x="7123176" y="2587752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vs. Proposed System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62102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2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483864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0216" y="3483864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3096" y="362102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3096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2" dirty="0"/>
          </a:p>
        </p:txBody>
      </p:sp>
      <p:sp>
        <p:nvSpPr>
          <p:cNvPr id="27" name="Text 25"/>
          <p:cNvSpPr txBox="1"/>
          <p:nvPr/>
        </p:nvSpPr>
        <p:spPr>
          <a:xfrm>
            <a:off x="7123176" y="3483864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379976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51713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2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379976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0216" y="4379976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451713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83096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2" dirty="0"/>
          </a:p>
        </p:txBody>
      </p:sp>
      <p:sp>
        <p:nvSpPr>
          <p:cNvPr id="35" name="Text 33"/>
          <p:cNvSpPr txBox="1"/>
          <p:nvPr/>
        </p:nvSpPr>
        <p:spPr>
          <a:xfrm>
            <a:off x="7123176" y="4379976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5276088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541324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5413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52" dirty="0"/>
          </a:p>
        </p:txBody>
      </p:sp>
      <p:sp>
        <p:nvSpPr>
          <p:cNvPr id="39" name="Text 37"/>
          <p:cNvSpPr txBox="1"/>
          <p:nvPr/>
        </p:nvSpPr>
        <p:spPr>
          <a:xfrm>
            <a:off x="1371600" y="5276088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0216" y="5276088"/>
            <a:ext cx="5550408" cy="749808"/>
          </a:xfrm>
          <a:prstGeom prst="roundRect">
            <a:avLst>
              <a:gd name="adj" fmla="val 9756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83096" y="541324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83096" y="5413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52" dirty="0"/>
          </a:p>
        </p:txBody>
      </p:sp>
      <p:sp>
        <p:nvSpPr>
          <p:cNvPr id="43" name="Text 41"/>
          <p:cNvSpPr txBox="1"/>
          <p:nvPr/>
        </p:nvSpPr>
        <p:spPr>
          <a:xfrm>
            <a:off x="7123176" y="5276088"/>
            <a:ext cx="4544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Future Scope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Hospital Management System?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943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Management System (HMS) is a database-driven application that streamlines and automates hospital operations and patient-related information.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Traditional, manual record-keeping often causes data duplication, delayed access to information, and errors in appointments and billing.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provides a centralized platform covering registration, staff details, scheduling, medical records, room allocation, prescriptions, billing and discharge — built on a structured, secure database.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0" y="1783080"/>
            <a:ext cx="4800600" cy="4160520"/>
          </a:xfrm>
          <a:prstGeom prst="roundRect">
            <a:avLst>
              <a:gd name="adj" fmla="val 2198"/>
            </a:avLst>
          </a:prstGeom>
          <a:solidFill>
            <a:srgbClr val="013A40"/>
          </a:solidFill>
          <a:ln/>
          <a:effectLst>
            <a:outerShdw sx="100000" sy="100000" kx="0" ky="0" algn="bl" rotWithShape="0" blurRad="101600" dist="38100" dir="5400000">
              <a:srgbClr val="0B2E32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21488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Platform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67919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registration, records, billing &amp; discharge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34472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9776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so users see only relevant data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474573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5276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database backend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of Manual Hospital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048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paper-based records are entered repeatedly across departments, leading to inconsistent and duplicate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57400"/>
            <a:ext cx="566928" cy="5669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12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Conflicts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048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booking leads to double-bookings, long queues, and patient waiting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12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78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Errors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22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invoicing is time-consuming and prone to calculation mistakes and revenue leakage.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14800"/>
            <a:ext cx="566928" cy="5669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12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078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Information Access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4622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maintaining and retrieving records slows coordination between doctors, staff, and administration.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328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patient registration, doctor/staff and hospital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783080"/>
            <a:ext cx="73152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00253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328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appointment scheduling and room allocation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78308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8394192" y="20025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419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5328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store and manage prescriptions and billing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66160"/>
            <a:ext cx="73152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378561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3159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access so users see only relevant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5661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356616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378561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99432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4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3159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efficient add, update, retrieve &amp; manage operations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5661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566160"/>
            <a:ext cx="73152" cy="1554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Shape 29"/>
          <p:cNvSpPr/>
          <p:nvPr/>
        </p:nvSpPr>
        <p:spPr>
          <a:xfrm>
            <a:off x="8394192" y="378561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94192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44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3159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scalable, reliable backend using MySQL and Flask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vs.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BEF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0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(MANUAL) SYSTEM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&amp; physical files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booking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billing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 access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record retrieval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E5F5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(DIGITAL) SYSTEM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0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digital database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0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online appointment system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0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automated billing engine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0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data access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0B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 &amp; record retrieval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(3-Tier)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51076" y="18745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F1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1076" y="1874520"/>
            <a:ext cx="10972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16836" y="1965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134356" y="1965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(HTML, CSS, JavaScript) used by patients, doctors, receptionists &amp; admins to interact with the system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94476" y="2926080"/>
            <a:ext cx="0" cy="502920"/>
          </a:xfrm>
          <a:prstGeom prst="line">
            <a:avLst/>
          </a:prstGeom>
          <a:noFill/>
          <a:ln w="22225">
            <a:solidFill>
              <a:srgbClr val="6E8A8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751076" y="342900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F1F7F6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1076" y="342900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16836" y="3520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(Logic)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34356" y="3520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 backend handling business rules — scheduling, billing, room allocation, authentication &amp; role-based access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4476" y="4480560"/>
            <a:ext cx="0" cy="502920"/>
          </a:xfrm>
          <a:prstGeom prst="line">
            <a:avLst/>
          </a:prstGeom>
          <a:noFill/>
          <a:ln w="22225">
            <a:solidFill>
              <a:srgbClr val="6E8A8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751076" y="498348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F1F7F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51076" y="4983480"/>
            <a:ext cx="10972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16836" y="5074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34356" y="5074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relational database storing patient, doctor, appointment, room, prescription &amp; billing records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built following an iterative Software Development Life Cycle (SDLC), allowing requirements to be refined and validated at every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48740" y="3657600"/>
            <a:ext cx="9491472" cy="0"/>
          </a:xfrm>
          <a:prstGeom prst="line">
            <a:avLst/>
          </a:prstGeom>
          <a:noFill/>
          <a:ln w="38100">
            <a:solidFill>
              <a:srgbClr val="DCEA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" y="278892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6132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64" dirty="0"/>
          </a:p>
        </p:txBody>
      </p:sp>
      <p:sp>
        <p:nvSpPr>
          <p:cNvPr id="8" name="Text 6"/>
          <p:cNvSpPr txBox="1"/>
          <p:nvPr/>
        </p:nvSpPr>
        <p:spPr>
          <a:xfrm>
            <a:off x="445313" y="3502152"/>
            <a:ext cx="1806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5313" y="4014216"/>
            <a:ext cx="18068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patient, doctor &amp; admin needs; define system scope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4426" y="278892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54426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64" dirty="0"/>
          </a:p>
        </p:txBody>
      </p:sp>
      <p:sp>
        <p:nvSpPr>
          <p:cNvPr id="12" name="Text 10"/>
          <p:cNvSpPr txBox="1"/>
          <p:nvPr/>
        </p:nvSpPr>
        <p:spPr>
          <a:xfrm>
            <a:off x="2343607" y="3502152"/>
            <a:ext cx="1806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43607" y="4014216"/>
            <a:ext cx="18068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database schema, architecture &amp; UI wireframes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52721" y="278892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52721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64" dirty="0"/>
          </a:p>
        </p:txBody>
      </p:sp>
      <p:sp>
        <p:nvSpPr>
          <p:cNvPr id="16" name="Text 14"/>
          <p:cNvSpPr txBox="1"/>
          <p:nvPr/>
        </p:nvSpPr>
        <p:spPr>
          <a:xfrm>
            <a:off x="4241902" y="3502152"/>
            <a:ext cx="1806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41902" y="4014216"/>
            <a:ext cx="18068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modules with Flask backend: patient, appointment, room, billing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51015" y="278892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51015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64" dirty="0"/>
          </a:p>
        </p:txBody>
      </p:sp>
      <p:sp>
        <p:nvSpPr>
          <p:cNvPr id="20" name="Text 18"/>
          <p:cNvSpPr txBox="1"/>
          <p:nvPr/>
        </p:nvSpPr>
        <p:spPr>
          <a:xfrm>
            <a:off x="6140196" y="3502152"/>
            <a:ext cx="1806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40196" y="4014216"/>
            <a:ext cx="18068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&amp; user-acceptance testing of modules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49310" y="278892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9310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64" dirty="0"/>
          </a:p>
        </p:txBody>
      </p:sp>
      <p:sp>
        <p:nvSpPr>
          <p:cNvPr id="24" name="Text 22"/>
          <p:cNvSpPr txBox="1"/>
          <p:nvPr/>
        </p:nvSpPr>
        <p:spPr>
          <a:xfrm>
            <a:off x="8038490" y="3502152"/>
            <a:ext cx="1806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038490" y="4014216"/>
            <a:ext cx="18068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server / cloud and configure hospital access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47604" y="278892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47604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64" dirty="0"/>
          </a:p>
        </p:txBody>
      </p:sp>
      <p:sp>
        <p:nvSpPr>
          <p:cNvPr id="28" name="Text 26"/>
          <p:cNvSpPr txBox="1"/>
          <p:nvPr/>
        </p:nvSpPr>
        <p:spPr>
          <a:xfrm>
            <a:off x="9936785" y="3502152"/>
            <a:ext cx="1806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936785" y="4014216"/>
            <a:ext cx="18068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performance, fix issues, add feature updates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 in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048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patients by urgency (emergency, critical, general) so the most critical cases are attended to first.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574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12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Appointment Allocation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048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routine doctor appointment slots on a first-come-first-served basis to prevent double booking.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12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78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Search (Binary/Hashing)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22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fast lookup of patient, room &amp; prescription records by ID, reducing retrieval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148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12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078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4622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each user (admin, doctor, staff) to only the records and actions relevant to their role.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hospital-records dataset was used to design, populate and test the system's database and algorithms.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41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2,000+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98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2331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13A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14600" y="2441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898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patient record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2331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13A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441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98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tables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118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BY TABLE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852160" cy="292608"/>
          </a:xfrm>
          <a:prstGeom prst="rect">
            <a:avLst/>
          </a:prstGeom>
          <a:solidFill>
            <a:srgbClr val="F1F7F6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97764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059936" y="397764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70248"/>
            <a:ext cx="5852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27024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059936" y="427024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62856"/>
            <a:ext cx="5852160" cy="292608"/>
          </a:xfrm>
          <a:prstGeom prst="rect">
            <a:avLst/>
          </a:prstGeom>
          <a:solidFill>
            <a:srgbClr val="F1F7F6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562856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059936" y="4562856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records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55464"/>
            <a:ext cx="5852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855464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059936" y="485546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records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48072"/>
            <a:ext cx="5852160" cy="292608"/>
          </a:xfrm>
          <a:prstGeom prst="rect">
            <a:avLst/>
          </a:prstGeom>
          <a:solidFill>
            <a:srgbClr val="F1F7F6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14807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059936" y="5148072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records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5852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44068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059936" y="544068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records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430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2,230 records across 6 linked tables (synthetic / anonymized sample data for development and testing).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1645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TABLE — SAMPLE SCHEMA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2029968"/>
            <a:ext cx="4800600" cy="306324"/>
          </a:xfrm>
          <a:prstGeom prst="rect">
            <a:avLst/>
          </a:prstGeom>
          <a:solidFill>
            <a:srgbClr val="028090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95160" y="2029968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498330" y="2029968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2336292"/>
            <a:ext cx="48006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95160" y="2336292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498330" y="2336292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(PK)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58000" y="2642616"/>
            <a:ext cx="4800600" cy="306324"/>
          </a:xfrm>
          <a:prstGeom prst="rect">
            <a:avLst/>
          </a:prstGeom>
          <a:solidFill>
            <a:srgbClr val="F1F7F6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95160" y="2642616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498330" y="2642616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58000" y="2948940"/>
            <a:ext cx="48006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95160" y="2948940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Gender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9498330" y="2948940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/ Char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0" y="3255264"/>
            <a:ext cx="4800600" cy="306324"/>
          </a:xfrm>
          <a:prstGeom prst="rect">
            <a:avLst/>
          </a:prstGeom>
          <a:solidFill>
            <a:srgbClr val="F1F7F6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95160" y="3255264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Contact_No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498330" y="3255264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58000" y="3561588"/>
            <a:ext cx="48006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95160" y="3561588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9498330" y="3561588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858000" y="3867912"/>
            <a:ext cx="4800600" cy="306324"/>
          </a:xfrm>
          <a:prstGeom prst="rect">
            <a:avLst/>
          </a:prstGeom>
          <a:solidFill>
            <a:srgbClr val="F1F7F6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95160" y="3867912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Doctor_Assigned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9498330" y="3867912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(FK)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58000" y="4174236"/>
            <a:ext cx="48006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995160" y="4174236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Room_No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9498330" y="4174236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(FK)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58000" y="4480560"/>
            <a:ext cx="4800600" cy="306324"/>
          </a:xfrm>
          <a:prstGeom prst="rect">
            <a:avLst/>
          </a:prstGeom>
          <a:solidFill>
            <a:srgbClr val="F1F7F6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95160" y="4480560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Admission_Date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9498330" y="4480560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858000" y="4786884"/>
            <a:ext cx="48006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95160" y="4786884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Discharge_Date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9498330" y="4786884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858000" y="5093208"/>
            <a:ext cx="4800600" cy="306324"/>
          </a:xfrm>
          <a:prstGeom prst="rect">
            <a:avLst/>
          </a:prstGeom>
          <a:solidFill>
            <a:srgbClr val="F1F7F6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995160" y="5093208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Prescription_ID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9498330" y="5093208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(FK)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858000" y="5399532"/>
            <a:ext cx="48006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995160" y="5399532"/>
            <a:ext cx="264033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Billing_Amount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9498330" y="5399532"/>
            <a:ext cx="202311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2606040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and JavaScript for the user interface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874520"/>
            <a:ext cx="2606040" cy="1280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the Flask framework for application logic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74520"/>
            <a:ext cx="2606040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43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structured, relational data storage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DC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B2E3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0" y="1874520"/>
            <a:ext cx="2606040" cy="12801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8116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743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and MySQL Workbench for development &amp; DB management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55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data duplication and manual administrative effort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patient registration and appointment booking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8221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billing errors with automated calculations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755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centralized, role-based access to hospital data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2862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coordination between departments and staff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89534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38221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an organized, reliable and scalable data solution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Diagnosis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048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predictive models to support doctors with preliminary diagnosis suggestions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574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12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20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048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access to patients and staff through a dedicated mobile app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12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78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Integration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22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video consultations for remote patients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1F7F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148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12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078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46227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cloud infrastructure for scalability and multi-branch access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5212080"/>
            <a:ext cx="1463040" cy="1463040"/>
          </a:xfrm>
          <a:prstGeom prst="ellipse">
            <a:avLst/>
          </a:prstGeom>
          <a:solidFill>
            <a:srgbClr val="0C4A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Smarter, Safer Way to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Hospital Data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Management System applies database systems engineering and backend development to a practical healthcare problem — delivering an organized, reliable and scalable solution for hospital data and day-to-day operations.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2026-09-09T03:09:03Z</dcterms:created>
  <dcterms:modified xsi:type="dcterms:W3CDTF">2026-09-09T03:09:03Z</dcterms:modified>
</cp:coreProperties>
</file>