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2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7332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7332F"/>
                </a:solidFill>
                <a:latin typeface="Calibri"/>
              </a:rPr>
              <a:t>Average task time (minutes) — manual vs. prototype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Manual process</c:v>
                </c:pt>
              </c:strCache>
            </c:strRef>
          </c:tx>
          <c:spPr>
            <a:solidFill>
              <a:srgbClr val="B7C6C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Register patient</c:v>
                  </c:pt>
                  <c:pt idx="1">
                    <c:v>Book appointment</c:v>
                  </c:pt>
                  <c:pt idx="2">
                    <c:v>Generate bill</c:v>
                  </c:pt>
                  <c:pt idx="3">
                    <c:v>Find a record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4.5</c:v>
                </c:pt>
                <c:pt idx="1">
                  <c:v>6</c:v>
                </c:pt>
                <c:pt idx="2">
                  <c:v>5</c:v>
                </c:pt>
                <c:pt idx="3">
                  <c:v>3.5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MediCore HMS (prototype)</c:v>
                </c:pt>
              </c:strCache>
            </c:strRef>
          </c:tx>
          <c:spPr>
            <a:solidFill>
              <a:srgbClr val="1B6B6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Register patient</c:v>
                  </c:pt>
                  <c:pt idx="1">
                    <c:v>Book appointment</c:v>
                  </c:pt>
                  <c:pt idx="2">
                    <c:v>Generate bill</c:v>
                  </c:pt>
                  <c:pt idx="3">
                    <c:v>Find a record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0.6</c:v>
                </c:pt>
                <c:pt idx="1">
                  <c:v>0.5</c:v>
                </c:pt>
                <c:pt idx="2">
                  <c:v>0.4</c:v>
                </c:pt>
                <c:pt idx="3">
                  <c:v>0.2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B5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FE6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B5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A5B57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Completion %</c:v>
                </c:pt>
              </c:strCache>
            </c:strRef>
          </c:tx>
          <c:spPr>
            <a:solidFill>
              <a:srgbClr val="1B6B6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733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Database design</c:v>
                  </c:pt>
                  <c:pt idx="1">
                    <c:v>Frontend</c:v>
                  </c:pt>
                  <c:pt idx="2">
                    <c:v>Backend API</c:v>
                  </c:pt>
                  <c:pt idx="3">
                    <c:v>Integration</c:v>
                  </c:pt>
                  <c:pt idx="4">
                    <c:v>Testing</c:v>
                  </c:pt>
                  <c:pt idx="5">
                    <c:v>Deployment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90</c:v>
                </c:pt>
                <c:pt idx="2">
                  <c:v>80</c:v>
                </c:pt>
                <c:pt idx="3">
                  <c:v>40</c:v>
                </c:pt>
                <c:pt idx="4">
                  <c:v>35</c:v>
                </c:pt>
                <c:pt idx="5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7332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7332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b"/>
        <c:majorGridlines>
          <c:spPr>
            <a:ln w="9525" cap="flat">
              <a:solidFill>
                <a:srgbClr val="DFE6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B5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2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765810" y="767410"/>
            <a:ext cx="251460" cy="65380"/>
          </a:xfrm>
          <a:prstGeom prst="rect">
            <a:avLst/>
          </a:prstGeom>
          <a:solidFill>
            <a:srgbClr val="0F423C"/>
          </a:solidFill>
          <a:ln/>
        </p:spPr>
      </p:sp>
      <p:sp>
        <p:nvSpPr>
          <p:cNvPr id="4" name="Shape 2"/>
          <p:cNvSpPr/>
          <p:nvPr/>
        </p:nvSpPr>
        <p:spPr>
          <a:xfrm>
            <a:off x="858850" y="674370"/>
            <a:ext cx="65380" cy="251460"/>
          </a:xfrm>
          <a:prstGeom prst="rect">
            <a:avLst/>
          </a:prstGeom>
          <a:solidFill>
            <a:srgbClr val="0F423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280160" y="56692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MediCore HMS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11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BF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ENGINEERING AND DISTRIBUTED BACKEND DEVELOPMENT (25CS1302E)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231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 Management System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337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98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Review – II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22960" y="4160520"/>
            <a:ext cx="10515600" cy="0"/>
          </a:xfrm>
          <a:prstGeom prst="line">
            <a:avLst/>
          </a:prstGeom>
          <a:noFill/>
          <a:ln w="12700">
            <a:solidFill>
              <a:srgbClr val="2C6A6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438912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98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
</a:t>
            </a:r>
            <a:endParaRPr lang="en-US" sz="125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 Harsha Vardhan — 2520080047
</a:t>
            </a:r>
            <a:endParaRPr lang="en-US" sz="125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Anirudh — 2520080058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438912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98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&amp; Term
</a:t>
            </a:r>
            <a:endParaRPr lang="en-US" sz="125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13 · Team 20
</a:t>
            </a:r>
            <a:endParaRPr lang="en-US" sz="125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Y25 · 2026–2027 · Trimester 4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_______________________        Department: Computer Science Engineering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10896" cy="310896"/>
          </a:xfrm>
          <a:prstGeom prst="roundRect">
            <a:avLst>
              <a:gd name="adj" fmla="val 22000"/>
            </a:avLst>
          </a:prstGeom>
          <a:solidFill>
            <a:srgbClr val="1B6B63"/>
          </a:solidFill>
          <a:ln/>
        </p:spPr>
      </p:sp>
      <p:sp>
        <p:nvSpPr>
          <p:cNvPr id="3" name="Shape 1"/>
          <p:cNvSpPr/>
          <p:nvPr/>
        </p:nvSpPr>
        <p:spPr>
          <a:xfrm>
            <a:off x="534924" y="519288"/>
            <a:ext cx="155448" cy="404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592440" y="461772"/>
            <a:ext cx="40416" cy="1554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MediCore HMS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412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972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828800"/>
            <a:ext cx="64008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Overview:  </a:t>
            </a:r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database-driven platform that centralizes hospital operations — registration, scheduling, records, room allocation, prescriptions and billing.
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 </a:t>
            </a:r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paper-based hospital record-keeping causes data duplication, slow access, and billing/scheduling errors.
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solution:  </a:t>
            </a:r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3-tier web application (HTML/CSS/JS → Flask → MySQL) with role-based access for admins, doctors and receptionists.
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Technologies/algorithms:  </a:t>
            </a:r>
            <a:pPr indent="0" marL="0">
              <a:buNone/>
            </a:pPr>
            <a:r>
              <a:rPr lang="en-US" sz="135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REST API, SQLAlchemy ORM, MySQL (3NF schema); priority scheduling and indexed lookups for records.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178040" y="1828800"/>
            <a:ext cx="4526280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FE6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06640" y="2011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Implementation Status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7406640" y="2331720"/>
            <a:ext cx="4114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9-table normalized MySQL schema — complete</a:t>
            </a:r>
            <a:endParaRPr lang="en-US" sz="11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working prototype (6 modules) — complete</a:t>
            </a:r>
            <a:endParaRPr lang="en-US" sz="11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Flask REST API with 12 endpoints — complete</a:t>
            </a:r>
            <a:endParaRPr lang="en-US" sz="11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↔ backend integration — in progress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406640" y="3977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7406640" y="42976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reliable, centralized HMS that cuts manual paperwork, speeds up scheduling/billing, and enforces role-based data access.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5166360"/>
            <a:ext cx="1730045" cy="365760"/>
          </a:xfrm>
          <a:prstGeom prst="roundRect">
            <a:avLst>
              <a:gd name="adj" fmla="val 50000"/>
            </a:avLst>
          </a:prstGeom>
          <a:solidFill>
            <a:srgbClr val="E4EEE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5166360"/>
            <a:ext cx="173004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351837" y="5166360"/>
            <a:ext cx="603504" cy="365760"/>
          </a:xfrm>
          <a:prstGeom prst="roundRect">
            <a:avLst>
              <a:gd name="adj" fmla="val 50000"/>
            </a:avLst>
          </a:prstGeom>
          <a:solidFill>
            <a:srgbClr val="E4EEE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351837" y="5166360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119933" y="5166360"/>
            <a:ext cx="1327709" cy="365760"/>
          </a:xfrm>
          <a:prstGeom prst="roundRect">
            <a:avLst>
              <a:gd name="adj" fmla="val 50000"/>
            </a:avLst>
          </a:prstGeom>
          <a:solidFill>
            <a:srgbClr val="E4EEE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119933" y="5166360"/>
            <a:ext cx="13277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REST API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12234" y="5166360"/>
            <a:ext cx="1569110" cy="365760"/>
          </a:xfrm>
          <a:prstGeom prst="roundRect">
            <a:avLst>
              <a:gd name="adj" fmla="val 50000"/>
            </a:avLst>
          </a:prstGeom>
          <a:solidFill>
            <a:srgbClr val="E4EEE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612234" y="5166360"/>
            <a:ext cx="15691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· Project Review II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10896" cy="310896"/>
          </a:xfrm>
          <a:prstGeom prst="roundRect">
            <a:avLst>
              <a:gd name="adj" fmla="val 22000"/>
            </a:avLst>
          </a:prstGeom>
          <a:solidFill>
            <a:srgbClr val="1B6B63"/>
          </a:solidFill>
          <a:ln/>
        </p:spPr>
      </p:sp>
      <p:sp>
        <p:nvSpPr>
          <p:cNvPr id="3" name="Shape 1"/>
          <p:cNvSpPr/>
          <p:nvPr/>
        </p:nvSpPr>
        <p:spPr>
          <a:xfrm>
            <a:off x="534924" y="519288"/>
            <a:ext cx="155448" cy="404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592440" y="461772"/>
            <a:ext cx="40416" cy="1554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MediCore HMS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412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972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457200" cy="457200"/>
          </a:xfrm>
          <a:prstGeom prst="ellipse">
            <a:avLst/>
          </a:prstGeom>
          <a:solidFill>
            <a:srgbClr val="E4EEE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078992" y="1819656"/>
            <a:ext cx="9710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problem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078992" y="2093976"/>
            <a:ext cx="9710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Patient, doctor, billing and room-allocation records are kept manually on paper or in disconnected spreadsheets.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715768"/>
            <a:ext cx="457200" cy="457200"/>
          </a:xfrm>
          <a:prstGeom prst="ellipse">
            <a:avLst/>
          </a:prstGeom>
          <a:solidFill>
            <a:srgbClr val="E4EEE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078992" y="2660904"/>
            <a:ext cx="9710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affected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078992" y="2935224"/>
            <a:ext cx="9710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face delays; doctors and receptionists waste time searching records; administrators lose visibility across departments.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557016"/>
            <a:ext cx="457200" cy="457200"/>
          </a:xfrm>
          <a:prstGeom prst="ellipse">
            <a:avLst/>
          </a:prstGeom>
          <a:solidFill>
            <a:srgbClr val="E4EEE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3538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078992" y="3502152"/>
            <a:ext cx="9710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must be solved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078992" y="3776472"/>
            <a:ext cx="9710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errors in billing and double-booked appointments directly affect patient care and hospital revenue.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4398264"/>
            <a:ext cx="457200" cy="457200"/>
          </a:xfrm>
          <a:prstGeom prst="ellipse">
            <a:avLst/>
          </a:prstGeom>
          <a:solidFill>
            <a:srgbClr val="E4EEE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7200" y="4379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078992" y="4343400"/>
            <a:ext cx="9710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of current approach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1078992" y="4617720"/>
            <a:ext cx="9710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 database, no role-based access, no automated scheduling or indexed search across records.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5257800"/>
            <a:ext cx="11247120" cy="868680"/>
          </a:xfrm>
          <a:prstGeom prst="roundRect">
            <a:avLst>
              <a:gd name="adj" fmla="val 6316"/>
            </a:avLst>
          </a:prstGeom>
          <a:solidFill>
            <a:srgbClr val="E4EEE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85800" y="537667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problem definition:  </a:t>
            </a:r>
            <a:pPr indent="0" marL="0">
              <a:buNone/>
            </a:pPr>
            <a:r>
              <a:rPr lang="en-US" sz="125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implement a centralized, database-backed Hospital Management System that automates registration, scheduling, records, prescriptions and billing with role-based access.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· Project Review II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10896" cy="310896"/>
          </a:xfrm>
          <a:prstGeom prst="roundRect">
            <a:avLst>
              <a:gd name="adj" fmla="val 22000"/>
            </a:avLst>
          </a:prstGeom>
          <a:solidFill>
            <a:srgbClr val="1B6B63"/>
          </a:solidFill>
          <a:ln/>
        </p:spPr>
      </p:sp>
      <p:sp>
        <p:nvSpPr>
          <p:cNvPr id="3" name="Shape 1"/>
          <p:cNvSpPr/>
          <p:nvPr/>
        </p:nvSpPr>
        <p:spPr>
          <a:xfrm>
            <a:off x="534924" y="519288"/>
            <a:ext cx="155448" cy="404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592440" y="461772"/>
            <a:ext cx="40416" cy="1554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MediCore HMS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412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972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53949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FE6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075688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E4EEE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2057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6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70432" y="20574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selected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25603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in our region still rely heavily on manual registers — a clear, high-impact problem for applying database &amp; backend engineering.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1874520"/>
            <a:ext cx="53949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FE6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2075688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E4EEE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09360" y="2057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6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793992" y="20574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importance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25603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hospital data management directly improves patient safety, treatment speed and administrative accuracy.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794760"/>
            <a:ext cx="53949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FE6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3995928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E4EEE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5800" y="3977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6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170432" y="39776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 for automation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44805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scheduling and billing cannot scale with patient volume; automation removes duplication and human error.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80760" y="3794760"/>
            <a:ext cx="53949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FE6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09360" y="3995928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E4EEE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309360" y="3977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6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793992" y="39776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benefits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6309360" y="44805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registration, conflict-free scheduling, accurate billing, and instant record retrieval for authorized staff.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53492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Relevance: directly applicable to academic (DBMS/backend coursework), industrial (healthcare IT) and social (patient welfare) contexts.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· Project Review II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10896" cy="310896"/>
          </a:xfrm>
          <a:prstGeom prst="roundRect">
            <a:avLst>
              <a:gd name="adj" fmla="val 22000"/>
            </a:avLst>
          </a:prstGeom>
          <a:solidFill>
            <a:srgbClr val="1B6B63"/>
          </a:solidFill>
          <a:ln/>
        </p:spPr>
      </p:sp>
      <p:sp>
        <p:nvSpPr>
          <p:cNvPr id="3" name="Shape 1"/>
          <p:cNvSpPr/>
          <p:nvPr/>
        </p:nvSpPr>
        <p:spPr>
          <a:xfrm>
            <a:off x="534924" y="519288"/>
            <a:ext cx="155448" cy="404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592440" y="461772"/>
            <a:ext cx="40416" cy="1554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MediCore HMS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412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972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B6B6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19476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8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185416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 patient, doctor, staff, room and billing records in one normalized MySQL database.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B6B6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3017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29992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8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236976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appointment scheduling with priority-based ordering for emergency and critical cases.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" y="40690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B6B6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4069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05079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8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4288536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secure, role-based access so admins, doctors and receptionists see only relevant data.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57200" y="512064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B6B6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7200" y="5120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51023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8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5340096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working front-end and Flask REST API that together demonstrate the full record lifecycle — register, schedule, prescribe, bill.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· Project Review II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10896" cy="310896"/>
          </a:xfrm>
          <a:prstGeom prst="roundRect">
            <a:avLst>
              <a:gd name="adj" fmla="val 22000"/>
            </a:avLst>
          </a:prstGeom>
          <a:solidFill>
            <a:srgbClr val="1B6B63"/>
          </a:solidFill>
          <a:ln/>
        </p:spPr>
      </p:sp>
      <p:sp>
        <p:nvSpPr>
          <p:cNvPr id="3" name="Shape 1"/>
          <p:cNvSpPr/>
          <p:nvPr/>
        </p:nvSpPr>
        <p:spPr>
          <a:xfrm>
            <a:off x="534924" y="519288"/>
            <a:ext cx="155448" cy="404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592440" y="461772"/>
            <a:ext cx="40416" cy="1554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MediCore HMS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412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972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11247120" cy="2743200"/>
        </p:xfrm>
        <a:graphic>
          <a:graphicData uri="http://schemas.openxmlformats.org/drawingml/2006/table">
            <a:tbl>
              <a:tblPr/>
              <a:tblGrid>
                <a:gridCol w="2926080"/>
                <a:gridCol w="5577840"/>
                <a:gridCol w="27432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limitation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6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Paper-based registers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Traditional manual record-keeping still used in many small/mid-size hospitals.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search, high duplication, no backup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Standalone desktop DBMS tools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Single-machine applications (e.g. MS Access-based) for local record storage.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multi-user access, poor scalability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E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Commercial cloud HMS suites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Full-featured vendor platforms covering billing, EHR and scheduling.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licensing cost, limited customization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Academic HMS prototypes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Student/research projects demonstrating CRUD operations over a relational schema.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Often lack role-based access &amp; priority scheduling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EC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57200" y="4892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existing options force a trade-off between affordability, customization and proper multi-user, role-based data access — the gap this project targets.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· Project Review II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10896" cy="310896"/>
          </a:xfrm>
          <a:prstGeom prst="roundRect">
            <a:avLst>
              <a:gd name="adj" fmla="val 22000"/>
            </a:avLst>
          </a:prstGeom>
          <a:solidFill>
            <a:srgbClr val="1B6B63"/>
          </a:solidFill>
          <a:ln/>
        </p:spPr>
      </p:sp>
      <p:sp>
        <p:nvSpPr>
          <p:cNvPr id="3" name="Shape 1"/>
          <p:cNvSpPr/>
          <p:nvPr/>
        </p:nvSpPr>
        <p:spPr>
          <a:xfrm>
            <a:off x="534924" y="519288"/>
            <a:ext cx="155448" cy="404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592440" y="461772"/>
            <a:ext cx="40416" cy="1554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MediCore HMS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412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MISSING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972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920240"/>
            <a:ext cx="10515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low-cost/academic HMS projects implement basic CRUD but skip role-based access control entirely.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modules are usually first-come-first-served only, with no priority handling for emergency/critical patients.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Billing, prescriptions and admissions are often stored as flat fields rather than normalized, independently queryable tables.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a lightweight, well-documented reference schema that a small hospital or teaching project can adopt directly.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4572000"/>
            <a:ext cx="11247120" cy="1417320"/>
          </a:xfrm>
          <a:prstGeom prst="roundRect">
            <a:avLst>
              <a:gd name="adj" fmla="val 3871"/>
            </a:avLst>
          </a:prstGeom>
          <a:solidFill>
            <a:srgbClr val="E4EEE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4736592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Gap:  </a:t>
            </a:r>
            <a:pPr indent="0" marL="0">
              <a:buNone/>
            </a:pPr>
            <a:r>
              <a:rPr lang="en-US" sz="135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academic and low-cost hospital systems rarely combine a fully normalized (3NF) relational schema, priority-based appointment scheduling, and enforced role-based access in a single, deployable prototype. This project addresses that combination directly.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· Project Review II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10896" cy="310896"/>
          </a:xfrm>
          <a:prstGeom prst="roundRect">
            <a:avLst>
              <a:gd name="adj" fmla="val 22000"/>
            </a:avLst>
          </a:prstGeom>
          <a:solidFill>
            <a:srgbClr val="1B6B63"/>
          </a:solidFill>
          <a:ln/>
        </p:spPr>
      </p:sp>
      <p:sp>
        <p:nvSpPr>
          <p:cNvPr id="3" name="Shape 1"/>
          <p:cNvSpPr/>
          <p:nvPr/>
        </p:nvSpPr>
        <p:spPr>
          <a:xfrm>
            <a:off x="534924" y="519288"/>
            <a:ext cx="155448" cy="404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592440" y="461772"/>
            <a:ext cx="40416" cy="1554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MediCore HMS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412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972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Methodology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1584960" cy="914400"/>
          </a:xfrm>
          <a:prstGeom prst="roundRect">
            <a:avLst>
              <a:gd name="adj" fmla="val 7000"/>
            </a:avLst>
          </a:prstGeom>
          <a:solidFill>
            <a:srgbClr val="0F423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02920" y="1965960"/>
            <a:ext cx="149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2042160" y="1965960"/>
            <a:ext cx="164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98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206752" y="1965960"/>
            <a:ext cx="1584960" cy="914400"/>
          </a:xfrm>
          <a:prstGeom prst="roundRect">
            <a:avLst>
              <a:gd name="adj" fmla="val 7000"/>
            </a:avLst>
          </a:prstGeom>
          <a:solidFill>
            <a:srgbClr val="1B6B6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252472" y="1965960"/>
            <a:ext cx="149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791712" y="1965960"/>
            <a:ext cx="164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98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956304" y="1965960"/>
            <a:ext cx="1584960" cy="914400"/>
          </a:xfrm>
          <a:prstGeom prst="roundRect">
            <a:avLst>
              <a:gd name="adj" fmla="val 7000"/>
            </a:avLst>
          </a:prstGeom>
          <a:solidFill>
            <a:srgbClr val="0F423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002024" y="1965960"/>
            <a:ext cx="149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Algorithm/Model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541264" y="1965960"/>
            <a:ext cx="164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98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705856" y="1965960"/>
            <a:ext cx="1584960" cy="914400"/>
          </a:xfrm>
          <a:prstGeom prst="roundRect">
            <a:avLst>
              <a:gd name="adj" fmla="val 7000"/>
            </a:avLst>
          </a:prstGeom>
          <a:solidFill>
            <a:srgbClr val="1B6B6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751576" y="1965960"/>
            <a:ext cx="149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Processing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7290816" y="1965960"/>
            <a:ext cx="164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98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455408" y="1965960"/>
            <a:ext cx="1584960" cy="914400"/>
          </a:xfrm>
          <a:prstGeom prst="roundRect">
            <a:avLst>
              <a:gd name="adj" fmla="val 7000"/>
            </a:avLst>
          </a:prstGeom>
          <a:solidFill>
            <a:srgbClr val="0F423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501128" y="1965960"/>
            <a:ext cx="149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9040368" y="1965960"/>
            <a:ext cx="164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98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204960" y="1965960"/>
            <a:ext cx="1584960" cy="914400"/>
          </a:xfrm>
          <a:prstGeom prst="roundRect">
            <a:avLst>
              <a:gd name="adj" fmla="val 7000"/>
            </a:avLst>
          </a:prstGeom>
          <a:solidFill>
            <a:srgbClr val="1B6B6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250680" y="1965960"/>
            <a:ext cx="149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Eval.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32461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 </a:t>
            </a:r>
            <a:pPr indent="0" marL="0">
              <a:buNone/>
            </a:pPr>
            <a:r>
              <a:rPr lang="en-US" sz="125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filled by receptionists/doctors: patient details, appointment requests, prescriptions, billing entries.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381304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Preprocessing:  </a:t>
            </a:r>
            <a:pPr indent="0" marL="0">
              <a:buNone/>
            </a:pPr>
            <a:r>
              <a:rPr lang="en-US" sz="125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and server-side validation — required fields, data types, duplicate-contact checks — before it reaches the database.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379976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Algorithm/model:  </a:t>
            </a:r>
            <a:pPr indent="0" marL="0">
              <a:buNone/>
            </a:pPr>
            <a:r>
              <a:rPr lang="en-US" sz="125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scheduling (Emergency &gt; Critical &gt; General) for the appointment queue; indexed lookups for fast record retrieval.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946904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Processing:  </a:t>
            </a:r>
            <a:pPr indent="0" marL="0">
              <a:buNone/>
            </a:pPr>
            <a:r>
              <a:rPr lang="en-US" sz="125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REST API applies business rules and role checks, then reads/writes through SQLAlchemy to MySQL.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551383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 </a:t>
            </a:r>
            <a:pPr indent="0" marL="0">
              <a:buNone/>
            </a:pPr>
            <a:r>
              <a:rPr lang="en-US" sz="125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appointments, generated prescriptions, invoices, and updated dashboards for staff.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· Project Review II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10896" cy="310896"/>
          </a:xfrm>
          <a:prstGeom prst="roundRect">
            <a:avLst>
              <a:gd name="adj" fmla="val 22000"/>
            </a:avLst>
          </a:prstGeom>
          <a:solidFill>
            <a:srgbClr val="1B6B63"/>
          </a:solidFill>
          <a:ln/>
        </p:spPr>
      </p:sp>
      <p:sp>
        <p:nvSpPr>
          <p:cNvPr id="3" name="Shape 1"/>
          <p:cNvSpPr/>
          <p:nvPr/>
        </p:nvSpPr>
        <p:spPr>
          <a:xfrm>
            <a:off x="534924" y="519288"/>
            <a:ext cx="155448" cy="404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592440" y="461772"/>
            <a:ext cx="40416" cy="1554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MediCore HMS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412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972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— 3-Tier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737360" y="1920240"/>
            <a:ext cx="8686800" cy="1143000"/>
          </a:xfrm>
          <a:prstGeom prst="roundRect">
            <a:avLst>
              <a:gd name="adj" fmla="val 5600"/>
            </a:avLst>
          </a:prstGeom>
          <a:solidFill>
            <a:srgbClr val="0F423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057400" y="2057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Layer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057400" y="245059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7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 &amp; JavaScript UI — login, dashboard, patients, appointments, rooms, prescriptions, billing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852160" y="3063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98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737360" y="3337560"/>
            <a:ext cx="8686800" cy="1143000"/>
          </a:xfrm>
          <a:prstGeom prst="roundRect">
            <a:avLst>
              <a:gd name="adj" fmla="val 5600"/>
            </a:avLst>
          </a:prstGeom>
          <a:solidFill>
            <a:srgbClr val="1B6B6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057400" y="3474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(Logic) Layer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057400" y="386791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7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REST API — validation, priority scheduling, role-based access, business rules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852160" y="4480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98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737360" y="4754880"/>
            <a:ext cx="8686800" cy="1143000"/>
          </a:xfrm>
          <a:prstGeom prst="roundRect">
            <a:avLst>
              <a:gd name="adj" fmla="val 5600"/>
            </a:avLst>
          </a:prstGeom>
          <a:solidFill>
            <a:srgbClr val="2E817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057400" y="4892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Layer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2057400" y="528523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7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— 9 normalized tables (users, patients, doctors, appointments, admissions, rooms, prescriptions, billing, staff)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58064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(browser) ↔ HTTP/JSON ↔ Flask API ↔ SQLAlchemy ORM ↔ MySQL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· Project Review II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10896" cy="310896"/>
          </a:xfrm>
          <a:prstGeom prst="roundRect">
            <a:avLst>
              <a:gd name="adj" fmla="val 22000"/>
            </a:avLst>
          </a:prstGeom>
          <a:solidFill>
            <a:srgbClr val="1B6B63"/>
          </a:solidFill>
          <a:ln/>
        </p:spPr>
      </p:sp>
      <p:sp>
        <p:nvSpPr>
          <p:cNvPr id="3" name="Shape 1"/>
          <p:cNvSpPr/>
          <p:nvPr/>
        </p:nvSpPr>
        <p:spPr>
          <a:xfrm>
            <a:off x="534924" y="519288"/>
            <a:ext cx="155448" cy="404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592440" y="461772"/>
            <a:ext cx="40416" cy="1554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MediCore HMS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412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972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Used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457200" cy="457200"/>
          </a:xfrm>
          <a:prstGeom prst="ellipse">
            <a:avLst/>
          </a:prstGeom>
          <a:solidFill>
            <a:srgbClr val="E4EEE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‹/›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078992" y="1865376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Programming Language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078992" y="2139696"/>
            <a:ext cx="4773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(backend), JavaScript (frontend)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1920240"/>
            <a:ext cx="457200" cy="457200"/>
          </a:xfrm>
          <a:prstGeom prst="ellipse">
            <a:avLst/>
          </a:prstGeom>
          <a:solidFill>
            <a:srgbClr val="E4EEE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17920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839712" y="1865376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839712" y="2139696"/>
            <a:ext cx="4773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(Flask-SQLAlchemy, Flask-CORS)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457200" cy="457200"/>
          </a:xfrm>
          <a:prstGeom prst="ellipse">
            <a:avLst/>
          </a:prstGeom>
          <a:solidFill>
            <a:srgbClr val="E4EEE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3273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078992" y="3236976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078992" y="3511296"/>
            <a:ext cx="4773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 (PyMySQL driver)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17920" y="3291840"/>
            <a:ext cx="457200" cy="457200"/>
          </a:xfrm>
          <a:prstGeom prst="ellipse">
            <a:avLst/>
          </a:prstGeom>
          <a:solidFill>
            <a:srgbClr val="E4EEE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217920" y="3273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{}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839712" y="3236976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Libraries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6839712" y="3511296"/>
            <a:ext cx="4773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ORM, python-dotenv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4663440"/>
            <a:ext cx="457200" cy="457200"/>
          </a:xfrm>
          <a:prstGeom prst="ellipse">
            <a:avLst/>
          </a:prstGeom>
          <a:solidFill>
            <a:srgbClr val="E4EEE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7200" y="4645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⚒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1078992" y="4608576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1078992" y="4882896"/>
            <a:ext cx="4773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Code, MySQL Workbench, GitHub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17920" y="4663440"/>
            <a:ext cx="457200" cy="457200"/>
          </a:xfrm>
          <a:prstGeom prst="ellipse">
            <a:avLst/>
          </a:prstGeom>
          <a:solidFill>
            <a:srgbClr val="E4EEEC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217920" y="4645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6839712" y="4608576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Operating System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6839712" y="4882896"/>
            <a:ext cx="4773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/ Linux (cross-platform)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· Project Review II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10896" cy="310896"/>
          </a:xfrm>
          <a:prstGeom prst="roundRect">
            <a:avLst>
              <a:gd name="adj" fmla="val 22000"/>
            </a:avLst>
          </a:prstGeom>
          <a:solidFill>
            <a:srgbClr val="1B6B63"/>
          </a:solidFill>
          <a:ln/>
        </p:spPr>
      </p:sp>
      <p:sp>
        <p:nvSpPr>
          <p:cNvPr id="3" name="Shape 1"/>
          <p:cNvSpPr/>
          <p:nvPr/>
        </p:nvSpPr>
        <p:spPr>
          <a:xfrm>
            <a:off x="534924" y="519288"/>
            <a:ext cx="155448" cy="404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592440" y="461772"/>
            <a:ext cx="40416" cy="1554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MediCore HMS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412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972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/ Input Details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FE6E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984248"/>
            <a:ext cx="233172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2505456"/>
            <a:ext cx="233172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tables in schema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0" y="1874520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FE6E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37560" y="1984248"/>
            <a:ext cx="233172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6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60+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3337560" y="2505456"/>
            <a:ext cx="233172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records seeded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0" y="1874520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FE6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80760" y="1984248"/>
            <a:ext cx="233172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98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2,000+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6080760" y="2505456"/>
            <a:ext cx="233172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records for full test dataset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686800" y="1874520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FE6E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823960" y="1984248"/>
            <a:ext cx="233172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8823960" y="2505456"/>
            <a:ext cx="233172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endpoints</a:t>
            </a:r>
            <a:endParaRPr lang="en-US" sz="11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00400"/>
          <a:ext cx="7315200" cy="2651760"/>
        </p:xfrm>
        <a:graphic>
          <a:graphicData uri="http://schemas.openxmlformats.org/drawingml/2006/table">
            <a:tbl>
              <a:tblPr/>
              <a:tblGrid>
                <a:gridCol w="2926080"/>
                <a:gridCol w="3291840"/>
                <a:gridCol w="1097280"/>
              </a:tblGrid>
              <a:tr h="3788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 records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63"/>
                    </a:solidFill>
                  </a:tcPr>
                </a:tc>
              </a:tr>
              <a:tr h="3788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identity &amp; contact details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88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 profile &amp; specialization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EC"/>
                    </a:solidFill>
                  </a:tcPr>
                </a:tc>
              </a:tr>
              <a:tr h="3788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appointments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Scheduling with priority &amp; 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88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 inventory &amp; occupancy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EC"/>
                    </a:solidFill>
                  </a:tcPr>
                </a:tc>
              </a:tr>
              <a:tr h="3788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prescriptions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Medicines linked to patient/doctor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88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Invoices, payment mode &amp; 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EC"/>
                    </a:solidFill>
                  </a:tcPr>
                </a:tc>
              </a:tr>
            </a:tbl>
          </a:graphicData>
        </a:graphic>
      </p:graphicFrame>
      <p:sp>
        <p:nvSpPr>
          <p:cNvPr id="21" name="Text 18"/>
          <p:cNvSpPr txBox="1"/>
          <p:nvPr/>
        </p:nvSpPr>
        <p:spPr>
          <a:xfrm>
            <a:off x="8001000" y="3200400"/>
            <a:ext cx="3703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parameters: 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age, gender, contact, priority, room type, payment mode...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Output/target:  </a:t>
            </a:r>
            <a:pPr indent="0" marL="0">
              <a:buNone/>
            </a:pPr>
            <a:r>
              <a:rPr lang="en-US" sz="120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appointment slot, generated invoice, updated room/bed status, dashboard statistics.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· Project Review II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10896" cy="310896"/>
          </a:xfrm>
          <a:prstGeom prst="roundRect">
            <a:avLst>
              <a:gd name="adj" fmla="val 22000"/>
            </a:avLst>
          </a:prstGeom>
          <a:solidFill>
            <a:srgbClr val="1B6B63"/>
          </a:solidFill>
          <a:ln/>
        </p:spPr>
      </p:sp>
      <p:sp>
        <p:nvSpPr>
          <p:cNvPr id="3" name="Shape 1"/>
          <p:cNvSpPr/>
          <p:nvPr/>
        </p:nvSpPr>
        <p:spPr>
          <a:xfrm>
            <a:off x="534924" y="519288"/>
            <a:ext cx="155448" cy="404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592440" y="461772"/>
            <a:ext cx="40416" cy="1554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MediCore HMS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412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972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— Front-End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87452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staff a single, role-aware interface for every daily task — no page reload, all client-side rendering.
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credentials + role; registration, appointment, prescription and billing forms.
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Processing: 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JavaScript renders tables/cards from data and sorts today's queue by priority.
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dashboard, patient/appointment/room/billing views ready to wire to the Flask API.
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used:  </a:t>
            </a:r>
            <a:pPr indent="0" marL="0">
              <a:buNone/>
            </a:pPr>
            <a:r>
              <a:rPr lang="en-US" sz="125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HTML5, CSS3 (custom design system), ES6 JavaScript.</a:t>
            </a:r>
            <a:endParaRPr lang="en-US" sz="1250" dirty="0"/>
          </a:p>
        </p:txBody>
      </p:sp>
      <p:pic>
        <p:nvPicPr>
          <p:cNvPr id="9" name="Image 0" descr="/home/claude/hms/shots/02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1874520"/>
            <a:ext cx="5943600" cy="371246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806440" y="1874520"/>
            <a:ext cx="5943600" cy="3712464"/>
          </a:xfrm>
          <a:prstGeom prst="rect">
            <a:avLst/>
          </a:prstGeom>
          <a:ln w="12700">
            <a:solidFill>
              <a:srgbClr val="DFE6E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806440" y="56235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today's queue sorted by priority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· Project Review II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10896" cy="310896"/>
          </a:xfrm>
          <a:prstGeom prst="roundRect">
            <a:avLst>
              <a:gd name="adj" fmla="val 22000"/>
            </a:avLst>
          </a:prstGeom>
          <a:solidFill>
            <a:srgbClr val="1B6B63"/>
          </a:solidFill>
          <a:ln/>
        </p:spPr>
      </p:sp>
      <p:sp>
        <p:nvSpPr>
          <p:cNvPr id="3" name="Shape 1"/>
          <p:cNvSpPr/>
          <p:nvPr/>
        </p:nvSpPr>
        <p:spPr>
          <a:xfrm>
            <a:off x="534924" y="519288"/>
            <a:ext cx="155448" cy="404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592440" y="461772"/>
            <a:ext cx="40416" cy="1554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MediCore HMS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412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972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— Backend / REST API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87452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business rules and expose a clean REST API in front of MySQL.
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payloads from the frontend (patient/appointment/prescription/billing data).
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Processing: 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routes validate input, apply priority sorting, and use SQLAlchemy models to read/write MySQL.
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responses consumed directly by the frontend's render() functions.
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used:  </a:t>
            </a:r>
            <a:pPr indent="0" marL="0">
              <a:buNone/>
            </a:pPr>
            <a:r>
              <a:rPr lang="en-US" sz="125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Flask, Flask-SQLAlchemy, Flask-CORS, PyMySQL.</a:t>
            </a:r>
            <a:endParaRPr lang="en-US" sz="12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06440" y="1874520"/>
          <a:ext cx="5943600" cy="41148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2103120"/>
              </a:tblGrid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63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3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/api/login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3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3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Role-based sign-in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3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/api/patients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3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 / POST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3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List / register patients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E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3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/api/appointments/queue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3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3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Priority-sorted queue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3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/api/rooms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3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3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Room status &amp; allocation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E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3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/api/prescriptions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3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 / POST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3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List / add prescriptions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3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/api/billing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3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 / POST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3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List / generate invoices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E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3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/api/dashboard/stats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3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3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Summary counters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· Project Review II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10896" cy="310896"/>
          </a:xfrm>
          <a:prstGeom prst="roundRect">
            <a:avLst>
              <a:gd name="adj" fmla="val 22000"/>
            </a:avLst>
          </a:prstGeom>
          <a:solidFill>
            <a:srgbClr val="1B6B63"/>
          </a:solidFill>
          <a:ln/>
        </p:spPr>
      </p:sp>
      <p:sp>
        <p:nvSpPr>
          <p:cNvPr id="3" name="Shape 1"/>
          <p:cNvSpPr/>
          <p:nvPr/>
        </p:nvSpPr>
        <p:spPr>
          <a:xfrm>
            <a:off x="534924" y="519288"/>
            <a:ext cx="155448" cy="404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592440" y="461772"/>
            <a:ext cx="40416" cy="1554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MediCore HMS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412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972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— Database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874520"/>
            <a:ext cx="41148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every hospital record without duplication, with referential integrity enforced by MySQL.
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Design: 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tables normalized to 3NF — Users, Doctors, Staff, Patients, Rooms, Appointments, Admissions, Prescriptions, Billing.
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Technique:  </a:t>
            </a:r>
            <a:pPr indent="0" marL="0">
              <a:buNone/>
            </a:pPr>
            <a:r>
              <a:rPr lang="en-US" sz="125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keys link every transactional table back to Patients/Doctors; indexes on patient_id and doctor_id speed up lookups.</a:t>
            </a:r>
            <a:endParaRPr lang="en-US" sz="1250" dirty="0"/>
          </a:p>
        </p:txBody>
      </p:sp>
      <p:pic>
        <p:nvPicPr>
          <p:cNvPr id="9" name="Image 0" descr="/home/claude/hms/shots/er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828800"/>
            <a:ext cx="6949440" cy="439826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· Project Review II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10896" cy="310896"/>
          </a:xfrm>
          <a:prstGeom prst="roundRect">
            <a:avLst>
              <a:gd name="adj" fmla="val 22000"/>
            </a:avLst>
          </a:prstGeom>
          <a:solidFill>
            <a:srgbClr val="1B6B63"/>
          </a:solidFill>
          <a:ln/>
        </p:spPr>
      </p:sp>
      <p:sp>
        <p:nvSpPr>
          <p:cNvPr id="3" name="Shape 1"/>
          <p:cNvSpPr/>
          <p:nvPr/>
        </p:nvSpPr>
        <p:spPr>
          <a:xfrm>
            <a:off x="534924" y="519288"/>
            <a:ext cx="155448" cy="404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592440" y="461772"/>
            <a:ext cx="40416" cy="1554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MediCore HMS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412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ENVIRONMENT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972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Setup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457200" cy="457200"/>
          </a:xfrm>
          <a:prstGeom prst="ellipse">
            <a:avLst/>
          </a:prstGeom>
          <a:solidFill>
            <a:srgbClr val="E4EEE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078992" y="1865376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used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078992" y="2139696"/>
            <a:ext cx="4773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development laptop (8GB+ RAM), no specialized hardware required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1920240"/>
            <a:ext cx="457200" cy="457200"/>
          </a:xfrm>
          <a:prstGeom prst="ellipse">
            <a:avLst/>
          </a:prstGeom>
          <a:solidFill>
            <a:srgbClr val="E4EEE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17920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839712" y="1865376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environment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839712" y="2139696"/>
            <a:ext cx="4773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3.12, Flask 3.x, MySQL 8 / SQLite (dev), VS Code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457200" cy="457200"/>
          </a:xfrm>
          <a:prstGeom prst="ellipse">
            <a:avLst/>
          </a:prstGeom>
          <a:solidFill>
            <a:srgbClr val="E4EEE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3182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078992" y="3145536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078992" y="3419856"/>
            <a:ext cx="4773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 seeded demo records across 6 core tables (see Slide 11)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17920" y="3200400"/>
            <a:ext cx="457200" cy="457200"/>
          </a:xfrm>
          <a:prstGeom prst="ellipse">
            <a:avLst/>
          </a:prstGeom>
          <a:solidFill>
            <a:srgbClr val="E4EEE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217920" y="3182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839712" y="3145536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parameters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6839712" y="3419856"/>
            <a:ext cx="4773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form submissions, varying record volumes (10 / 100 / 1,000 rows)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4480560"/>
            <a:ext cx="457200" cy="457200"/>
          </a:xfrm>
          <a:prstGeom prst="ellipse">
            <a:avLst/>
          </a:prstGeom>
          <a:solidFill>
            <a:srgbClr val="E4EEE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7200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1078992" y="4425696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configuration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1078992" y="4700016"/>
            <a:ext cx="4773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functional testing + scripted API calls (curl / Postman-style requests)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17920" y="4480560"/>
            <a:ext cx="457200" cy="457200"/>
          </a:xfrm>
          <a:prstGeom prst="ellipse">
            <a:avLst/>
          </a:prstGeom>
          <a:solidFill>
            <a:srgbClr val="E4EEEC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217920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6839712" y="4425696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Number of test runs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6839712" y="4700016"/>
            <a:ext cx="4773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endpoint tests, 5 UI walkthroughs across all 3 roles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· Project Review II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10896" cy="310896"/>
          </a:xfrm>
          <a:prstGeom prst="roundRect">
            <a:avLst>
              <a:gd name="adj" fmla="val 22000"/>
            </a:avLst>
          </a:prstGeom>
          <a:solidFill>
            <a:srgbClr val="1B6B63"/>
          </a:solidFill>
          <a:ln/>
        </p:spPr>
      </p:sp>
      <p:sp>
        <p:nvSpPr>
          <p:cNvPr id="3" name="Shape 1"/>
          <p:cNvSpPr/>
          <p:nvPr/>
        </p:nvSpPr>
        <p:spPr>
          <a:xfrm>
            <a:off x="534924" y="519288"/>
            <a:ext cx="155448" cy="404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592440" y="461772"/>
            <a:ext cx="40416" cy="1554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MediCore HMS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412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SO FAR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972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2800" dirty="0"/>
          </a:p>
        </p:txBody>
      </p:sp>
      <p:pic>
        <p:nvPicPr>
          <p:cNvPr id="8" name="Image 0" descr="/home/claude/hms/shots/03_pati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74520"/>
            <a:ext cx="5440680" cy="19659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874520"/>
            <a:ext cx="5440680" cy="1965960"/>
          </a:xfrm>
          <a:prstGeom prst="rect">
            <a:avLst/>
          </a:prstGeom>
          <a:ln w="12700">
            <a:solidFill>
              <a:srgbClr val="DFE6E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200" y="3858768"/>
            <a:ext cx="5440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records</a:t>
            </a:r>
            <a:endParaRPr lang="en-US" sz="1050" dirty="0"/>
          </a:p>
        </p:txBody>
      </p:sp>
      <p:pic>
        <p:nvPicPr>
          <p:cNvPr id="11" name="Image 1" descr="/home/claude/hms/shots/04_appointmen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874520"/>
            <a:ext cx="5440680" cy="196596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263640" y="1874520"/>
            <a:ext cx="5440680" cy="1965960"/>
          </a:xfrm>
          <a:prstGeom prst="rect">
            <a:avLst/>
          </a:prstGeom>
          <a:ln w="12700">
            <a:solidFill>
              <a:srgbClr val="DFE6E3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263640" y="3858768"/>
            <a:ext cx="5440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scheduling</a:t>
            </a:r>
            <a:endParaRPr lang="en-US" sz="1050" dirty="0"/>
          </a:p>
        </p:txBody>
      </p:sp>
      <p:pic>
        <p:nvPicPr>
          <p:cNvPr id="14" name="Image 2" descr="/home/claude/hms/shots/05_room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60520"/>
            <a:ext cx="5440680" cy="196596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457200" y="4160520"/>
            <a:ext cx="5440680" cy="1965960"/>
          </a:xfrm>
          <a:prstGeom prst="rect">
            <a:avLst/>
          </a:prstGeom>
          <a:ln w="12700">
            <a:solidFill>
              <a:srgbClr val="DFE6E3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457200" y="6144768"/>
            <a:ext cx="5440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&amp; admission status</a:t>
            </a:r>
            <a:endParaRPr lang="en-US" sz="1050" dirty="0"/>
          </a:p>
        </p:txBody>
      </p:sp>
      <p:pic>
        <p:nvPicPr>
          <p:cNvPr id="17" name="Image 3" descr="/home/claude/hms/shots/06_bill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4160520"/>
            <a:ext cx="5440680" cy="196596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263640" y="4160520"/>
            <a:ext cx="5440680" cy="1965960"/>
          </a:xfrm>
          <a:prstGeom prst="rect">
            <a:avLst/>
          </a:prstGeom>
          <a:ln w="12700">
            <a:solidFill>
              <a:srgbClr val="DFE6E3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6263640" y="6144768"/>
            <a:ext cx="5440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&amp; invoices</a:t>
            </a:r>
            <a:endParaRPr lang="en-US" sz="1050" dirty="0"/>
          </a:p>
        </p:txBody>
      </p:sp>
      <p:sp>
        <p:nvSpPr>
          <p:cNvPr id="20" name="Text 14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· Project Review II</a:t>
            </a:r>
            <a:endParaRPr lang="en-US" sz="900" dirty="0"/>
          </a:p>
        </p:txBody>
      </p:sp>
      <p:sp>
        <p:nvSpPr>
          <p:cNvPr id="21" name="Text 15"/>
          <p:cNvSpPr txBox="1"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10896" cy="310896"/>
          </a:xfrm>
          <a:prstGeom prst="roundRect">
            <a:avLst>
              <a:gd name="adj" fmla="val 22000"/>
            </a:avLst>
          </a:prstGeom>
          <a:solidFill>
            <a:srgbClr val="1B6B63"/>
          </a:solidFill>
          <a:ln/>
        </p:spPr>
      </p:sp>
      <p:sp>
        <p:nvSpPr>
          <p:cNvPr id="3" name="Shape 1"/>
          <p:cNvSpPr/>
          <p:nvPr/>
        </p:nvSpPr>
        <p:spPr>
          <a:xfrm>
            <a:off x="534924" y="519288"/>
            <a:ext cx="155448" cy="404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592440" y="461772"/>
            <a:ext cx="40416" cy="1554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MediCore HMS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412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972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Evaluation</a:t>
            </a:r>
            <a:endParaRPr lang="en-US" sz="28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1874520"/>
          <a:ext cx="667512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7406640" y="1874520"/>
            <a:ext cx="38404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6E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543800" y="198424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6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300ms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7543800" y="24231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API response time (local dev)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406640" y="2926080"/>
            <a:ext cx="38404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6E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543800" y="303580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98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7543800" y="34747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exercised in testing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406640" y="3977640"/>
            <a:ext cx="38404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6E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543800" y="408736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7543800" y="45262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Data-integrity errors across FK-linked tables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7406640" y="50292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proposed system reduces average per-task time from minutes (manual) to well under a second per prototype API call — validating the case for automation.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· Project Review II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10896" cy="310896"/>
          </a:xfrm>
          <a:prstGeom prst="roundRect">
            <a:avLst>
              <a:gd name="adj" fmla="val 22000"/>
            </a:avLst>
          </a:prstGeom>
          <a:solidFill>
            <a:srgbClr val="1B6B63"/>
          </a:solidFill>
          <a:ln/>
        </p:spPr>
      </p:sp>
      <p:sp>
        <p:nvSpPr>
          <p:cNvPr id="3" name="Shape 1"/>
          <p:cNvSpPr/>
          <p:nvPr/>
        </p:nvSpPr>
        <p:spPr>
          <a:xfrm>
            <a:off x="534924" y="519288"/>
            <a:ext cx="155448" cy="404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592440" y="461772"/>
            <a:ext cx="40416" cy="1554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MediCore HMS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412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PROTOTYPE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972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Screenshots / Working Demo</a:t>
            </a:r>
            <a:endParaRPr lang="en-US" sz="2800" dirty="0"/>
          </a:p>
        </p:txBody>
      </p:sp>
      <p:pic>
        <p:nvPicPr>
          <p:cNvPr id="8" name="Image 0" descr="/home/claude/hms/shots/01_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74520"/>
            <a:ext cx="3566160" cy="1600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874520"/>
            <a:ext cx="3566160" cy="1600200"/>
          </a:xfrm>
          <a:prstGeom prst="rect">
            <a:avLst/>
          </a:prstGeom>
          <a:ln w="12700">
            <a:solidFill>
              <a:srgbClr val="DFE6E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200" y="349300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(role-based)</a:t>
            </a:r>
            <a:endParaRPr lang="en-US" sz="1000" dirty="0"/>
          </a:p>
        </p:txBody>
      </p:sp>
      <p:pic>
        <p:nvPicPr>
          <p:cNvPr id="11" name="Image 1" descr="/home/claude/hms/shots/02_dash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392" y="1874520"/>
            <a:ext cx="3566160" cy="16002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279392" y="1874520"/>
            <a:ext cx="3566160" cy="1600200"/>
          </a:xfrm>
          <a:prstGeom prst="rect">
            <a:avLst/>
          </a:prstGeom>
          <a:ln w="12700">
            <a:solidFill>
              <a:srgbClr val="DFE6E3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279392" y="349300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pic>
        <p:nvPicPr>
          <p:cNvPr id="14" name="Image 2" descr="/home/claude/hms/shots/03_patient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4" y="1874520"/>
            <a:ext cx="3566160" cy="160020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8101584" y="1874520"/>
            <a:ext cx="3566160" cy="1600200"/>
          </a:xfrm>
          <a:prstGeom prst="rect">
            <a:avLst/>
          </a:prstGeom>
          <a:ln w="12700">
            <a:solidFill>
              <a:srgbClr val="DFE6E3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8101584" y="349300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000" dirty="0"/>
          </a:p>
        </p:txBody>
      </p:sp>
      <p:pic>
        <p:nvPicPr>
          <p:cNvPr id="17" name="Image 3" descr="/home/claude/hms/shots/04_appointment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767328"/>
            <a:ext cx="3566160" cy="160020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457200" y="3767328"/>
            <a:ext cx="3566160" cy="1600200"/>
          </a:xfrm>
          <a:prstGeom prst="rect">
            <a:avLst/>
          </a:prstGeom>
          <a:ln w="12700">
            <a:solidFill>
              <a:srgbClr val="DFE6E3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457200" y="538581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</a:t>
            </a:r>
            <a:endParaRPr lang="en-US" sz="1000" dirty="0"/>
          </a:p>
        </p:txBody>
      </p:sp>
      <p:pic>
        <p:nvPicPr>
          <p:cNvPr id="20" name="Image 4" descr="/home/claude/hms/shots/05_room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9392" y="3767328"/>
            <a:ext cx="3566160" cy="1600200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4279392" y="3767328"/>
            <a:ext cx="3566160" cy="1600200"/>
          </a:xfrm>
          <a:prstGeom prst="rect">
            <a:avLst/>
          </a:prstGeom>
          <a:ln w="12700">
            <a:solidFill>
              <a:srgbClr val="DFE6E3"/>
            </a:solidFill>
            <a:prstDash val="solid"/>
          </a:ln>
        </p:spPr>
      </p:sp>
      <p:sp>
        <p:nvSpPr>
          <p:cNvPr id="22" name="Text 15"/>
          <p:cNvSpPr txBox="1"/>
          <p:nvPr/>
        </p:nvSpPr>
        <p:spPr>
          <a:xfrm>
            <a:off x="4279392" y="538581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 &amp; admissions</a:t>
            </a:r>
            <a:endParaRPr lang="en-US" sz="1000" dirty="0"/>
          </a:p>
        </p:txBody>
      </p:sp>
      <p:pic>
        <p:nvPicPr>
          <p:cNvPr id="23" name="Image 5" descr="/home/claude/hms/shots/06_billin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1584" y="3767328"/>
            <a:ext cx="3566160" cy="1600200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8101584" y="3767328"/>
            <a:ext cx="3566160" cy="1600200"/>
          </a:xfrm>
          <a:prstGeom prst="rect">
            <a:avLst/>
          </a:prstGeom>
          <a:ln w="12700">
            <a:solidFill>
              <a:srgbClr val="DFE6E3"/>
            </a:solidFill>
            <a:prstDash val="solid"/>
          </a:ln>
        </p:spPr>
      </p:sp>
      <p:sp>
        <p:nvSpPr>
          <p:cNvPr id="25" name="Text 17"/>
          <p:cNvSpPr txBox="1"/>
          <p:nvPr/>
        </p:nvSpPr>
        <p:spPr>
          <a:xfrm>
            <a:off x="8101584" y="538581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1000" dirty="0"/>
          </a:p>
        </p:txBody>
      </p:sp>
      <p:sp>
        <p:nvSpPr>
          <p:cNvPr id="26" name="Text 18"/>
          <p:cNvSpPr txBox="1"/>
          <p:nvPr/>
        </p:nvSpPr>
        <p:spPr>
          <a:xfrm>
            <a:off x="457200" y="58978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D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Important: the actual working prototype will be demonstrated live during the review.</a:t>
            </a:r>
            <a:endParaRPr lang="en-US" sz="1150" dirty="0"/>
          </a:p>
        </p:txBody>
      </p:sp>
      <p:sp>
        <p:nvSpPr>
          <p:cNvPr id="27" name="Text 19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· Project Review II</a:t>
            </a:r>
            <a:endParaRPr lang="en-US" sz="900" dirty="0"/>
          </a:p>
        </p:txBody>
      </p:sp>
      <p:sp>
        <p:nvSpPr>
          <p:cNvPr id="28" name="Text 20"/>
          <p:cNvSpPr txBox="1"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10896" cy="310896"/>
          </a:xfrm>
          <a:prstGeom prst="roundRect">
            <a:avLst>
              <a:gd name="adj" fmla="val 22000"/>
            </a:avLst>
          </a:prstGeom>
          <a:solidFill>
            <a:srgbClr val="1B6B63"/>
          </a:solidFill>
          <a:ln/>
        </p:spPr>
      </p:sp>
      <p:sp>
        <p:nvSpPr>
          <p:cNvPr id="3" name="Shape 1"/>
          <p:cNvSpPr/>
          <p:nvPr/>
        </p:nvSpPr>
        <p:spPr>
          <a:xfrm>
            <a:off x="534924" y="519288"/>
            <a:ext cx="155448" cy="404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592440" y="461772"/>
            <a:ext cx="40416" cy="1554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MediCore HMS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412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/ AFTER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972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with Existing System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5394960" cy="4114800"/>
          </a:xfrm>
          <a:prstGeom prst="roundRect">
            <a:avLst>
              <a:gd name="adj" fmla="val 1333"/>
            </a:avLst>
          </a:prstGeom>
          <a:solidFill>
            <a:srgbClr val="FBEAE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2057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D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(Manual) System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51460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registers &amp; physical files</a:t>
            </a:r>
            <a:endParaRPr lang="en-US" sz="13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appointment booking</a:t>
            </a:r>
            <a:endParaRPr lang="en-US" sz="13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Error-prone manual billing</a:t>
            </a:r>
            <a:endParaRPr lang="en-US" sz="13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data access</a:t>
            </a:r>
            <a:endParaRPr lang="en-US" sz="13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record retrieval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1874520"/>
            <a:ext cx="5394960" cy="4114800"/>
          </a:xfrm>
          <a:prstGeom prst="roundRect">
            <a:avLst>
              <a:gd name="adj" fmla="val 1333"/>
            </a:avLst>
          </a:prstGeom>
          <a:solidFill>
            <a:srgbClr val="E7F3E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29400" y="2057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(Digital) System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251460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MySQL database</a:t>
            </a:r>
            <a:endParaRPr lang="en-US" sz="13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Priority-based appointment scheduling</a:t>
            </a:r>
            <a:endParaRPr lang="en-US" sz="13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invoice generation</a:t>
            </a:r>
            <a:endParaRPr lang="en-US" sz="13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Role-based, secure data access</a:t>
            </a:r>
            <a:endParaRPr lang="en-US" sz="13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Indexed, instant record search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· Project Review II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10896" cy="310896"/>
          </a:xfrm>
          <a:prstGeom prst="roundRect">
            <a:avLst>
              <a:gd name="adj" fmla="val 22000"/>
            </a:avLst>
          </a:prstGeom>
          <a:solidFill>
            <a:srgbClr val="1B6B63"/>
          </a:solidFill>
          <a:ln/>
        </p:spPr>
      </p:sp>
      <p:sp>
        <p:nvSpPr>
          <p:cNvPr id="3" name="Shape 1"/>
          <p:cNvSpPr/>
          <p:nvPr/>
        </p:nvSpPr>
        <p:spPr>
          <a:xfrm>
            <a:off x="534924" y="519288"/>
            <a:ext cx="155448" cy="404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592440" y="461772"/>
            <a:ext cx="40416" cy="1554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MediCore HMS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412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RAN INTO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972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Solutions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8745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D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331720"/>
            <a:ext cx="53035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300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admissions/billing without duplicating patient data across tables</a:t>
            </a:r>
            <a:endParaRPr lang="en-US" sz="13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300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the appointment queue correctly ordered by urgency</a:t>
            </a:r>
            <a:endParaRPr lang="en-US" sz="13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300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 UI usable by non-technical hospital staff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18745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2331720"/>
            <a:ext cx="5394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300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flat fields into 9 normalized tables linked by foreign keys (3NF)</a:t>
            </a:r>
            <a:endParaRPr lang="en-US" sz="13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300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a priority-rank sort (Emergency &gt; Critical &gt; General) in both frontend and API</a:t>
            </a:r>
            <a:endParaRPr lang="en-US" sz="13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300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clinical, table-based UI with plain-language labels and minimal clicks per task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· Project Review II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10896" cy="310896"/>
          </a:xfrm>
          <a:prstGeom prst="roundRect">
            <a:avLst>
              <a:gd name="adj" fmla="val 22000"/>
            </a:avLst>
          </a:prstGeom>
          <a:solidFill>
            <a:srgbClr val="1B6B63"/>
          </a:solidFill>
          <a:ln/>
        </p:spPr>
      </p:sp>
      <p:sp>
        <p:nvSpPr>
          <p:cNvPr id="3" name="Shape 1"/>
          <p:cNvSpPr/>
          <p:nvPr/>
        </p:nvSpPr>
        <p:spPr>
          <a:xfrm>
            <a:off x="534924" y="519288"/>
            <a:ext cx="155448" cy="404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592440" y="461772"/>
            <a:ext cx="40416" cy="1554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MediCore HMS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412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972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Progress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8745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Overall Progress: 70%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7315200" cy="320040"/>
          </a:xfrm>
          <a:prstGeom prst="roundRect">
            <a:avLst>
              <a:gd name="adj" fmla="val 48571"/>
            </a:avLst>
          </a:prstGeom>
          <a:solidFill>
            <a:srgbClr val="DFE6E3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377440"/>
            <a:ext cx="5120640" cy="320040"/>
          </a:xfrm>
          <a:prstGeom prst="roundRect">
            <a:avLst>
              <a:gd name="adj" fmla="val 48571"/>
            </a:avLst>
          </a:prstGeom>
          <a:solidFill>
            <a:srgbClr val="1B6B63"/>
          </a:solidFill>
          <a:ln/>
        </p:spPr>
      </p:sp>
      <p:graphicFrame>
        <p:nvGraphicFramePr>
          <p:cNvPr id="11" name="Chart 0" descr=""/>
          <p:cNvGraphicFramePr/>
          <p:nvPr/>
        </p:nvGraphicFramePr>
        <p:xfrm>
          <a:off x="457200" y="2971800"/>
          <a:ext cx="1124712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· Project Review II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10896" cy="310896"/>
          </a:xfrm>
          <a:prstGeom prst="roundRect">
            <a:avLst>
              <a:gd name="adj" fmla="val 22000"/>
            </a:avLst>
          </a:prstGeom>
          <a:solidFill>
            <a:srgbClr val="1B6B63"/>
          </a:solidFill>
          <a:ln/>
        </p:spPr>
      </p:sp>
      <p:sp>
        <p:nvSpPr>
          <p:cNvPr id="3" name="Shape 1"/>
          <p:cNvSpPr/>
          <p:nvPr/>
        </p:nvSpPr>
        <p:spPr>
          <a:xfrm>
            <a:off x="534924" y="519288"/>
            <a:ext cx="155448" cy="404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592440" y="461772"/>
            <a:ext cx="40416" cy="1554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MediCore HMS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412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972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457200" cy="457200"/>
          </a:xfrm>
          <a:prstGeom prst="ellipse">
            <a:avLst/>
          </a:prstGeom>
          <a:solidFill>
            <a:srgbClr val="E4EEE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078992" y="1865376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 frontend to backend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078992" y="2139696"/>
            <a:ext cx="4773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in-memory arrays with live fetch() calls to the Flask API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1920240"/>
            <a:ext cx="457200" cy="457200"/>
          </a:xfrm>
          <a:prstGeom prst="ellipse">
            <a:avLst/>
          </a:prstGeom>
          <a:solidFill>
            <a:srgbClr val="E4EEE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17920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839712" y="1865376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 to production MySQL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839712" y="2139696"/>
            <a:ext cx="4773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from the SQLite dev database to MySQL with the full 2,000+ record dataset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457200" cy="457200"/>
          </a:xfrm>
          <a:prstGeom prst="ellipse">
            <a:avLst/>
          </a:prstGeom>
          <a:solidFill>
            <a:srgbClr val="E4EEE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3273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078992" y="3236976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Harden authentication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078992" y="3511296"/>
            <a:ext cx="4773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hashed passwords and session/JWT-based login instead of the demo check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17920" y="3291840"/>
            <a:ext cx="457200" cy="457200"/>
          </a:xfrm>
          <a:prstGeom prst="ellipse">
            <a:avLst/>
          </a:prstGeom>
          <a:solidFill>
            <a:srgbClr val="E4EEE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217920" y="3273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839712" y="3236976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Load-test the API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6839712" y="3511296"/>
            <a:ext cx="4773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response times hold up under concurrent multi-user access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4663440"/>
            <a:ext cx="457200" cy="457200"/>
          </a:xfrm>
          <a:prstGeom prst="ellipse">
            <a:avLst/>
          </a:prstGeom>
          <a:solidFill>
            <a:srgbClr val="E4EEE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7200" y="4645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1078992" y="4608576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automated tests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1078992" y="4882896"/>
            <a:ext cx="4773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and integration tests for every endpoint and UI flow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17920" y="4663440"/>
            <a:ext cx="457200" cy="457200"/>
          </a:xfrm>
          <a:prstGeom prst="ellipse">
            <a:avLst/>
          </a:prstGeom>
          <a:solidFill>
            <a:srgbClr val="E4EEEC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217920" y="4645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6839712" y="4608576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&amp; document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6839712" y="4882896"/>
            <a:ext cx="4773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full stack to a cloud host and prepare final project documentation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· Project Review II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42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754380" y="747522"/>
            <a:ext cx="228600" cy="59436"/>
          </a:xfrm>
          <a:prstGeom prst="rect">
            <a:avLst/>
          </a:prstGeom>
          <a:solidFill>
            <a:srgbClr val="0F423C"/>
          </a:solidFill>
          <a:ln/>
        </p:spPr>
      </p:sp>
      <p:sp>
        <p:nvSpPr>
          <p:cNvPr id="4" name="Shape 2"/>
          <p:cNvSpPr/>
          <p:nvPr/>
        </p:nvSpPr>
        <p:spPr>
          <a:xfrm>
            <a:off x="838962" y="662940"/>
            <a:ext cx="59436" cy="228600"/>
          </a:xfrm>
          <a:prstGeom prst="rect">
            <a:avLst/>
          </a:prstGeom>
          <a:solidFill>
            <a:srgbClr val="0F423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234440" y="594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98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4630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organized, reliable path to digital hospital management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06040"/>
            <a:ext cx="10424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E7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manual hospital record-keeping causes duplication, delays and billing errors.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E7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a 3-tier HMS — HTML/CSS/JS, Flask REST API, normalized MySQL database — with role-based access.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E7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database and frontend complete; backend API implemented and unit-tested; integration in progress.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E7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sub-second API responses in testing, zero data-integrity errors across linked tables.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E7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Contribution: a reusable, documented reference schema + prototype combining normalization, priority scheduling and RBAC.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5623560"/>
            <a:ext cx="10424160" cy="777240"/>
          </a:xfrm>
          <a:prstGeom prst="roundRect">
            <a:avLst>
              <a:gd name="adj" fmla="val 7059"/>
            </a:avLst>
          </a:prstGeom>
          <a:solidFill>
            <a:srgbClr val="0C373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574243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98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proposed system demonstrates the feasibility of addressing the identified problem using the selected methodology and provides a foundation for further improvement and real-world implementation.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· Project Review II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10896" cy="310896"/>
          </a:xfrm>
          <a:prstGeom prst="roundRect">
            <a:avLst>
              <a:gd name="adj" fmla="val 22000"/>
            </a:avLst>
          </a:prstGeom>
          <a:solidFill>
            <a:srgbClr val="1B6B63"/>
          </a:solidFill>
          <a:ln/>
        </p:spPr>
      </p:sp>
      <p:sp>
        <p:nvSpPr>
          <p:cNvPr id="3" name="Shape 1"/>
          <p:cNvSpPr/>
          <p:nvPr/>
        </p:nvSpPr>
        <p:spPr>
          <a:xfrm>
            <a:off x="534924" y="519288"/>
            <a:ext cx="155448" cy="404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592440" y="461772"/>
            <a:ext cx="40416" cy="1554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MediCore HMS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412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972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920240"/>
            <a:ext cx="109728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documentation — https://flask.palletsprojects.com/</a:t>
            </a:r>
            <a:endParaRPr lang="en-US" sz="14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Flask-SQLAlchemy documentation — https://flask-sqlalchemy.palletsprojects.com/</a:t>
            </a:r>
            <a:endParaRPr lang="en-US" sz="14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 Reference Manual — https://dev.mysql.com/doc/refman/8.0/en/</a:t>
            </a:r>
            <a:endParaRPr lang="en-US" sz="14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Elmasri, R. &amp; Navathe, S. — Fundamentals of Database Systems (database normalization reference)</a:t>
            </a:r>
            <a:endParaRPr lang="en-US" sz="14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Silberschatz, A., Korth, H., Sudarshan, S. — Database System Concepts (schema design &amp; indexing reference)</a:t>
            </a:r>
            <a:endParaRPr lang="en-US" sz="14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1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source: synthetic/anonymized demo records generated for this project (no real patient data used)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· Project Review II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2026-09-16T03:14:30Z</dcterms:created>
  <dcterms:modified xsi:type="dcterms:W3CDTF">2026-09-16T03:14:30Z</dcterms:modified>
</cp:coreProperties>
</file>